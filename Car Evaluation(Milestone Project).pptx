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50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49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26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4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41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07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15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4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35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08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346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175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10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985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10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950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3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4DB2FB3-317F-4F8F-A758-C464A19EBAE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1F08AB-4172-4974-8FA8-37273F5A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2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901F-D6A9-B286-4728-9FE8FDAB8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5287" y="2743200"/>
            <a:ext cx="8689976" cy="752473"/>
          </a:xfrm>
        </p:spPr>
        <p:txBody>
          <a:bodyPr/>
          <a:lstStyle/>
          <a:p>
            <a:r>
              <a:rPr lang="en-US" b="1" dirty="0"/>
              <a:t>Car Evaluation</a:t>
            </a:r>
            <a:endParaRPr lang="en-IN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FAAD1C-FC86-8C31-19F8-AEF3131A3ED7}"/>
              </a:ext>
            </a:extLst>
          </p:cNvPr>
          <p:cNvSpPr txBox="1">
            <a:spLocks/>
          </p:cNvSpPr>
          <p:nvPr/>
        </p:nvSpPr>
        <p:spPr>
          <a:xfrm>
            <a:off x="-449263" y="1600201"/>
            <a:ext cx="8689976" cy="7524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Milestone project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A340B-CF9F-F022-99F2-832E3A8B4630}"/>
              </a:ext>
            </a:extLst>
          </p:cNvPr>
          <p:cNvSpPr txBox="1"/>
          <p:nvPr/>
        </p:nvSpPr>
        <p:spPr>
          <a:xfrm>
            <a:off x="4658487" y="4237024"/>
            <a:ext cx="6886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 | DATA ANALYSITICS &amp; DATA SCIENCE| JULY BATCH ,COHORT C</a:t>
            </a:r>
          </a:p>
        </p:txBody>
      </p:sp>
    </p:spTree>
    <p:extLst>
      <p:ext uri="{BB962C8B-B14F-4D97-AF65-F5344CB8AC3E}">
        <p14:creationId xmlns:p14="http://schemas.microsoft.com/office/powerpoint/2010/main" val="410435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540D-C8B0-42C8-04B0-378D6B07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675" y="199418"/>
            <a:ext cx="6238876" cy="934058"/>
          </a:xfrm>
        </p:spPr>
        <p:txBody>
          <a:bodyPr/>
          <a:lstStyle/>
          <a:p>
            <a:r>
              <a:rPr lang="en-US" b="1" dirty="0"/>
              <a:t>Dataset Overview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C4404-6AD7-9CF3-40C9-BB8626DB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1066801"/>
            <a:ext cx="6530044" cy="50196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78EBF2-33A6-E1F6-C224-783D900B3C7B}"/>
              </a:ext>
            </a:extLst>
          </p:cNvPr>
          <p:cNvSpPr txBox="1"/>
          <p:nvPr/>
        </p:nvSpPr>
        <p:spPr>
          <a:xfrm>
            <a:off x="504825" y="1175981"/>
            <a:ext cx="465772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dataset contains car evaluation details including attributes such as Buying Price, Maintenance Cost, Number of Doors, Passenger Capacity, Boot Space, and Safety Rating.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It includes </a:t>
            </a:r>
            <a:r>
              <a:rPr lang="en-US" b="1" dirty="0"/>
              <a:t>1,728 rows and 7 columns</a:t>
            </a:r>
            <a:r>
              <a:rPr lang="en-US" dirty="0"/>
              <a:t>, categorized to assess car acceptability levels.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 this project, we focus on analyzing factors like price, safety, and capacity to understand how they influence the </a:t>
            </a:r>
            <a:r>
              <a:rPr lang="en-US" b="1" dirty="0"/>
              <a:t>overall car acceptance (class)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Based on this analysis, insights can help manufacturers or consumers evaluate which features lead to higher car acceptance.</a:t>
            </a:r>
          </a:p>
        </p:txBody>
      </p:sp>
    </p:spTree>
    <p:extLst>
      <p:ext uri="{BB962C8B-B14F-4D97-AF65-F5344CB8AC3E}">
        <p14:creationId xmlns:p14="http://schemas.microsoft.com/office/powerpoint/2010/main" val="398388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DD80958-B1AA-8E55-945D-34CBFDEF9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562" y="694718"/>
            <a:ext cx="6238876" cy="934058"/>
          </a:xfrm>
        </p:spPr>
        <p:txBody>
          <a:bodyPr/>
          <a:lstStyle/>
          <a:p>
            <a:r>
              <a:rPr lang="en-US" b="1" dirty="0"/>
              <a:t>Finding Null Values 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00C2C5-D416-7D20-8B23-DA0EF271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63" y="1831109"/>
            <a:ext cx="3619712" cy="31957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A21B5F-5DCB-30F1-6728-D71906516174}"/>
              </a:ext>
            </a:extLst>
          </p:cNvPr>
          <p:cNvSpPr txBox="1"/>
          <p:nvPr/>
        </p:nvSpPr>
        <p:spPr>
          <a:xfrm>
            <a:off x="5676900" y="222361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dataset contains </a:t>
            </a:r>
            <a:r>
              <a:rPr lang="en-US" b="1" dirty="0"/>
              <a:t>no missing values</a:t>
            </a:r>
            <a:r>
              <a:rPr lang="en-US" dirty="0"/>
              <a:t> across all columns.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Data quality is strong, which means </a:t>
            </a:r>
            <a:r>
              <a:rPr lang="en-US" b="1" dirty="0"/>
              <a:t>no imputation or cleaning is required</a:t>
            </a:r>
            <a:r>
              <a:rPr lang="en-US" dirty="0"/>
              <a:t> for null values.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ensures a </a:t>
            </a:r>
            <a:r>
              <a:rPr lang="en-US" b="1" dirty="0"/>
              <a:t>smooth analysis and reliable modeling</a:t>
            </a:r>
            <a:r>
              <a:rPr lang="en-US" dirty="0"/>
              <a:t>, since every record is complete.</a:t>
            </a:r>
          </a:p>
        </p:txBody>
      </p:sp>
    </p:spTree>
    <p:extLst>
      <p:ext uri="{BB962C8B-B14F-4D97-AF65-F5344CB8AC3E}">
        <p14:creationId xmlns:p14="http://schemas.microsoft.com/office/powerpoint/2010/main" val="285834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E00FE6-46B2-132A-EC8B-F087D0485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79" y="1313989"/>
            <a:ext cx="3162741" cy="19910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5A93F6D-CF8C-8777-9F95-BF387EE8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162" y="189893"/>
            <a:ext cx="6238876" cy="934058"/>
          </a:xfrm>
        </p:spPr>
        <p:txBody>
          <a:bodyPr/>
          <a:lstStyle/>
          <a:p>
            <a:r>
              <a:rPr lang="en-US" b="1" dirty="0"/>
              <a:t>Finding Data Types 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A1BE46-5C6B-0C25-7850-A5238228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23" y="3479036"/>
            <a:ext cx="6106377" cy="9812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DFEB04-FCAA-EDA6-1D2A-BAC3FA271E37}"/>
              </a:ext>
            </a:extLst>
          </p:cNvPr>
          <p:cNvSpPr txBox="1"/>
          <p:nvPr/>
        </p:nvSpPr>
        <p:spPr>
          <a:xfrm>
            <a:off x="4593333" y="143822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fields </a:t>
            </a:r>
            <a:r>
              <a:rPr lang="en-US" i="1" dirty="0"/>
              <a:t>‘Number of Doors’</a:t>
            </a:r>
            <a:r>
              <a:rPr lang="en-US" dirty="0"/>
              <a:t> and </a:t>
            </a:r>
            <a:r>
              <a:rPr lang="en-US" i="1" dirty="0"/>
              <a:t>‘Number of Persons’</a:t>
            </a:r>
            <a:r>
              <a:rPr lang="en-US" dirty="0"/>
              <a:t> are stored as categorical (object) data types. To enable proper numerical analysis, these attributes need to be converted into integer format.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7864E9-8399-F916-D491-6C6A62E95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506" y="4398482"/>
            <a:ext cx="2791215" cy="18766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3D4BFB-356D-7924-9114-239698A4289B}"/>
              </a:ext>
            </a:extLst>
          </p:cNvPr>
          <p:cNvSpPr txBox="1"/>
          <p:nvPr/>
        </p:nvSpPr>
        <p:spPr>
          <a:xfrm>
            <a:off x="4593333" y="4634292"/>
            <a:ext cx="3995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Now, ‘Number of Doors’ and ‘Number of Persons’ are converted to integers for proper analysis.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1F1C89-9E1F-5F00-E92B-FBDDAC7E4B22}"/>
              </a:ext>
            </a:extLst>
          </p:cNvPr>
          <p:cNvSpPr txBox="1"/>
          <p:nvPr/>
        </p:nvSpPr>
        <p:spPr>
          <a:xfrm>
            <a:off x="4593333" y="27456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replaced “5more” with 5 and converted both columns into integers to make them usable for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654594-6918-BAEF-79D9-951FF0A3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97" y="1873959"/>
            <a:ext cx="4400828" cy="3170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0D89A3-AB8C-3382-C703-6F94301B8D52}"/>
              </a:ext>
            </a:extLst>
          </p:cNvPr>
          <p:cNvSpPr txBox="1"/>
          <p:nvPr/>
        </p:nvSpPr>
        <p:spPr>
          <a:xfrm>
            <a:off x="5381903" y="213633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here , Buying price, maintenance cost, boot size, safety rating, and car acceptability are categorical features, so they need to be converted into numeric values for analysis.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These columns contain categorical values and must be encoded into numeric format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These fields are categorical, so we convert them into numbers for processing.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CE2395-A6E6-6F30-B039-999FF06F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162" y="180368"/>
            <a:ext cx="6238876" cy="934058"/>
          </a:xfrm>
        </p:spPr>
        <p:txBody>
          <a:bodyPr/>
          <a:lstStyle/>
          <a:p>
            <a:r>
              <a:rPr lang="en-US" b="1" dirty="0"/>
              <a:t>Encoding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2508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E933DA-30A9-B816-3C21-27ADA47B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162" y="180368"/>
            <a:ext cx="6238876" cy="934058"/>
          </a:xfrm>
        </p:spPr>
        <p:txBody>
          <a:bodyPr/>
          <a:lstStyle/>
          <a:p>
            <a:r>
              <a:rPr lang="en-US" b="1" dirty="0"/>
              <a:t>Label Encoding manually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02856-ECAC-2078-E056-804ADC221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86" y="1633419"/>
            <a:ext cx="6934840" cy="1795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2227F6-CB03-6342-00E7-A48C6A4B1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6" y="3947993"/>
            <a:ext cx="6934840" cy="2181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716603-4ABE-57FF-BB94-BF0CC8E47215}"/>
              </a:ext>
            </a:extLst>
          </p:cNvPr>
          <p:cNvSpPr txBox="1"/>
          <p:nvPr/>
        </p:nvSpPr>
        <p:spPr>
          <a:xfrm>
            <a:off x="7810500" y="1633419"/>
            <a:ext cx="37433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We manually encoded the categorical columns by mapping each category to a numerical value, allowing the data to be used in analysis 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06A60-2836-53D4-2861-B32FEC03B67B}"/>
              </a:ext>
            </a:extLst>
          </p:cNvPr>
          <p:cNvSpPr txBox="1"/>
          <p:nvPr/>
        </p:nvSpPr>
        <p:spPr>
          <a:xfrm>
            <a:off x="7810500" y="3947993"/>
            <a:ext cx="38195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After encoding, all categorical columns have been successfully converted into numeric values, and the dataset is now ready for further analysis and modeling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40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E0548F-903A-1194-8F10-1255B7712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707" y="1976380"/>
            <a:ext cx="7953918" cy="103351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D77466-1E17-4103-FA2F-1E12A738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275" y="180368"/>
            <a:ext cx="8134350" cy="934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Converting Target Variable to 0 and 1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AF507-4BF4-F691-31FF-9FF32B921F67}"/>
              </a:ext>
            </a:extLst>
          </p:cNvPr>
          <p:cNvSpPr txBox="1"/>
          <p:nvPr/>
        </p:nvSpPr>
        <p:spPr>
          <a:xfrm>
            <a:off x="2928666" y="34290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Changing the target to 0 and 1 makes it easier for the model to understand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Binary values make the target cleaner and easier to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83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1F3E8-ECCE-9BCA-5B10-5D6462A0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7" y="1343872"/>
            <a:ext cx="4839375" cy="962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A1DF16-58CA-90F6-344D-6F8AC63AA9A3}"/>
              </a:ext>
            </a:extLst>
          </p:cNvPr>
          <p:cNvSpPr txBox="1"/>
          <p:nvPr/>
        </p:nvSpPr>
        <p:spPr>
          <a:xfrm>
            <a:off x="5762625" y="134367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independent variables were separated as X, and the target variable was assigned to y, enabling us to train and evaluate the model effectively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736705-C1EF-7CEF-C8D0-B07AD411C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37" y="2762962"/>
            <a:ext cx="7773485" cy="2581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FA3470-B9BE-AFC4-6FA9-69D74441B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2762962"/>
            <a:ext cx="2419688" cy="258163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A8F76DF-66D1-0BBC-0D1A-FB28AAFB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162" y="180368"/>
            <a:ext cx="6238876" cy="934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Splitting features and target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2014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FB0BDD-0F81-537E-1630-C2C93DC58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1114426"/>
            <a:ext cx="7430537" cy="7335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95C2D7-5639-0395-8688-1B381DC7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162" y="180368"/>
            <a:ext cx="6238876" cy="934058"/>
          </a:xfrm>
        </p:spPr>
        <p:txBody>
          <a:bodyPr>
            <a:normAutofit/>
          </a:bodyPr>
          <a:lstStyle/>
          <a:p>
            <a:r>
              <a:rPr lang="en-US" b="1" dirty="0"/>
              <a:t>Train – test split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DA350-94B0-9A45-C7C2-CBD49E6AD801}"/>
              </a:ext>
            </a:extLst>
          </p:cNvPr>
          <p:cNvSpPr txBox="1"/>
          <p:nvPr/>
        </p:nvSpPr>
        <p:spPr>
          <a:xfrm>
            <a:off x="2380731" y="21356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split the data into train and test sets (80–20) to train the model and check its accuracy.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D55DC1-83EA-9DF4-5BB1-2AB5ACFCD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506" y="4291548"/>
            <a:ext cx="3915321" cy="15758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E134DF-BA20-2451-62E6-F120613BA9FF}"/>
              </a:ext>
            </a:extLst>
          </p:cNvPr>
          <p:cNvSpPr txBox="1"/>
          <p:nvPr/>
        </p:nvSpPr>
        <p:spPr>
          <a:xfrm>
            <a:off x="5534025" y="419078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training data is </a:t>
            </a:r>
            <a:r>
              <a:rPr lang="en-US" b="1" dirty="0"/>
              <a:t>imbalanced</a:t>
            </a:r>
            <a:r>
              <a:rPr lang="en-US" dirty="0"/>
              <a:t>, with class 0 having more samples than class 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Class 0 has </a:t>
            </a:r>
            <a:r>
              <a:rPr lang="en-US" b="1" dirty="0"/>
              <a:t>962 records</a:t>
            </a:r>
            <a:r>
              <a:rPr lang="en-US" dirty="0"/>
              <a:t>, while class 1 has </a:t>
            </a:r>
            <a:r>
              <a:rPr lang="en-US" b="1" dirty="0"/>
              <a:t>420 records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imbalance may affect model performance, so techniques like resampling or class weighting might be required.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E265F05-F979-4732-BDBC-DBF74C439AA9}"/>
              </a:ext>
            </a:extLst>
          </p:cNvPr>
          <p:cNvSpPr txBox="1">
            <a:spLocks/>
          </p:cNvSpPr>
          <p:nvPr/>
        </p:nvSpPr>
        <p:spPr>
          <a:xfrm>
            <a:off x="2976561" y="2789695"/>
            <a:ext cx="6238876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Checking class balance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2883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4A6EC2-6E62-CD5A-EFF1-4A179A82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162" y="180368"/>
            <a:ext cx="6238876" cy="934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Balancing data using smote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8C919-764D-5E99-E107-ABC5ECD0B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95" y="1114426"/>
            <a:ext cx="5315692" cy="5496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B29914-5D1E-777A-ABD7-940F61A1D69C}"/>
              </a:ext>
            </a:extLst>
          </p:cNvPr>
          <p:cNvSpPr txBox="1"/>
          <p:nvPr/>
        </p:nvSpPr>
        <p:spPr>
          <a:xfrm>
            <a:off x="6806172" y="2015804"/>
            <a:ext cx="43190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dataset was imbalanced with </a:t>
            </a:r>
            <a:r>
              <a:rPr lang="en-US" b="1" dirty="0"/>
              <a:t>968 samples in class 0</a:t>
            </a:r>
            <a:r>
              <a:rPr lang="en-US" dirty="0"/>
              <a:t> and </a:t>
            </a:r>
            <a:r>
              <a:rPr lang="en-US" b="1" dirty="0"/>
              <a:t>414 samples in class 1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SMOTE balanced the classes by creating equal samples for both categories</a:t>
            </a:r>
            <a:endParaRPr lang="en-US" b="1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After applying SMOTE, the dataset became balanced, helping the model learn better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SMOTE fixed the imbalance by adding more minority class records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930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3B67C6-276A-7291-3402-48FBCB883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085" y="1873624"/>
            <a:ext cx="4525006" cy="20025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E403FC-77BD-C380-5DA0-2B0B0D1A2F34}"/>
              </a:ext>
            </a:extLst>
          </p:cNvPr>
          <p:cNvSpPr txBox="1"/>
          <p:nvPr/>
        </p:nvSpPr>
        <p:spPr>
          <a:xfrm>
            <a:off x="3048000" y="42353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I used </a:t>
            </a:r>
            <a:r>
              <a:rPr lang="en-US" dirty="0" err="1"/>
              <a:t>StandardScaler</a:t>
            </a:r>
            <a:r>
              <a:rPr lang="en-US" dirty="0"/>
              <a:t> to scale the features before training the model</a:t>
            </a: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CF586-91B4-4D27-C7C2-DB9DAE71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009" y="580396"/>
            <a:ext cx="8256214" cy="934058"/>
          </a:xfrm>
        </p:spPr>
        <p:txBody>
          <a:bodyPr>
            <a:normAutofit/>
          </a:bodyPr>
          <a:lstStyle/>
          <a:p>
            <a:r>
              <a:rPr lang="en-US" sz="2800" b="1" dirty="0"/>
              <a:t>Feature scaling using </a:t>
            </a:r>
            <a:r>
              <a:rPr lang="en-US" sz="2800" b="1" dirty="0" err="1"/>
              <a:t>standardscaler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81278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353788-CFC8-A57B-2EEB-BE91F6E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721" y="1129413"/>
            <a:ext cx="4382112" cy="198147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903DE9F-D7B2-8ADD-F903-29B546D0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020" y="0"/>
            <a:ext cx="8256214" cy="934058"/>
          </a:xfrm>
        </p:spPr>
        <p:txBody>
          <a:bodyPr>
            <a:normAutofit/>
          </a:bodyPr>
          <a:lstStyle/>
          <a:p>
            <a:r>
              <a:rPr lang="en-US" sz="2800" b="1" dirty="0"/>
              <a:t>Logistic regression 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2B56B6-3334-E6F0-6FB2-B9A19AF33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704" y="4016620"/>
            <a:ext cx="3502128" cy="2010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1DECCB-3EEF-8D22-799C-422B12814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16621"/>
            <a:ext cx="3572374" cy="201005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FE96399-C4CC-09BC-9884-36C71B70C50C}"/>
              </a:ext>
            </a:extLst>
          </p:cNvPr>
          <p:cNvSpPr txBox="1">
            <a:spLocks/>
          </p:cNvSpPr>
          <p:nvPr/>
        </p:nvSpPr>
        <p:spPr>
          <a:xfrm>
            <a:off x="3434741" y="3208785"/>
            <a:ext cx="473818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Train and test accuracy </a:t>
            </a:r>
            <a:endParaRPr lang="en-IN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A0363D-43E2-994D-8F60-95E0D85CEB44}"/>
              </a:ext>
            </a:extLst>
          </p:cNvPr>
          <p:cNvSpPr txBox="1"/>
          <p:nvPr/>
        </p:nvSpPr>
        <p:spPr>
          <a:xfrm>
            <a:off x="6096000" y="1501624"/>
            <a:ext cx="4674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Logistic Regression was trained on the balanced data to predict car acceptability.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52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D3E32B-176D-5A9D-3397-52389E3C1421}"/>
              </a:ext>
            </a:extLst>
          </p:cNvPr>
          <p:cNvSpPr txBox="1">
            <a:spLocks/>
          </p:cNvSpPr>
          <p:nvPr/>
        </p:nvSpPr>
        <p:spPr>
          <a:xfrm>
            <a:off x="6761325" y="707805"/>
            <a:ext cx="414651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Confusion matrix</a:t>
            </a:r>
            <a:endParaRPr lang="en-IN" sz="28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ADB2C1-8439-07F7-A77F-276FBF5E0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197" y="1641863"/>
            <a:ext cx="4537761" cy="38506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8AAB37-6AED-6352-BC34-B19254D1D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960" y="1626484"/>
            <a:ext cx="4550561" cy="3866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D2190D2-1489-557F-9A4E-1CF68F202278}"/>
              </a:ext>
            </a:extLst>
          </p:cNvPr>
          <p:cNvSpPr txBox="1">
            <a:spLocks/>
          </p:cNvSpPr>
          <p:nvPr/>
        </p:nvSpPr>
        <p:spPr>
          <a:xfrm>
            <a:off x="1470820" y="707805"/>
            <a:ext cx="414651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Classification report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055789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272038-786D-8FBC-5D6D-CE5D598B9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39" y="2252997"/>
            <a:ext cx="4229690" cy="3248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D5B840-8BA5-E22D-AF07-F1E251B40102}"/>
              </a:ext>
            </a:extLst>
          </p:cNvPr>
          <p:cNvSpPr txBox="1"/>
          <p:nvPr/>
        </p:nvSpPr>
        <p:spPr>
          <a:xfrm>
            <a:off x="5549153" y="292251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best value for Logistic Regression was C = 0.1.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This gave the best accuracy of about 88%.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The tuned model works well for this dataset.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7FC3A9-EF2B-0A4A-5CE3-5FA97FF80CF0}"/>
              </a:ext>
            </a:extLst>
          </p:cNvPr>
          <p:cNvSpPr txBox="1">
            <a:spLocks/>
          </p:cNvSpPr>
          <p:nvPr/>
        </p:nvSpPr>
        <p:spPr>
          <a:xfrm>
            <a:off x="4022743" y="422467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Hyperparameter tuning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7971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320666-F57E-498F-6610-12CB21056AC4}"/>
              </a:ext>
            </a:extLst>
          </p:cNvPr>
          <p:cNvSpPr txBox="1">
            <a:spLocks/>
          </p:cNvSpPr>
          <p:nvPr/>
        </p:nvSpPr>
        <p:spPr>
          <a:xfrm>
            <a:off x="3795348" y="279032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K-nearest neighbors</a:t>
            </a:r>
            <a:endParaRPr lang="en-IN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7952B-46F4-5299-9EB4-BB164348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26" y="1780945"/>
            <a:ext cx="7066477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B6A22C-6593-75FA-5398-663151CFC92A}"/>
              </a:ext>
            </a:extLst>
          </p:cNvPr>
          <p:cNvSpPr txBox="1"/>
          <p:nvPr/>
        </p:nvSpPr>
        <p:spPr>
          <a:xfrm>
            <a:off x="7628965" y="1997839"/>
            <a:ext cx="41685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KNN classifier achieved a </a:t>
            </a:r>
            <a:r>
              <a:rPr lang="en-US" b="1" dirty="0"/>
              <a:t>high accuracy of 97%</a:t>
            </a:r>
            <a:r>
              <a:rPr lang="en-US" dirty="0"/>
              <a:t>, showing strong prediction performance.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Both classes were classified well with high precision, recall, and F1 scores.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balanced performance across metrics indicates that the model generalizes well on unseen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192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00B0EF-5DEA-28CC-669A-5B237138F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27" y="1213090"/>
            <a:ext cx="4930162" cy="416983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855676-9B75-5D62-E4D3-2FB8428F819D}"/>
              </a:ext>
            </a:extLst>
          </p:cNvPr>
          <p:cNvSpPr txBox="1">
            <a:spLocks/>
          </p:cNvSpPr>
          <p:nvPr/>
        </p:nvSpPr>
        <p:spPr>
          <a:xfrm>
            <a:off x="3795348" y="279032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Elbow method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35AEF5-E4CC-36CB-672E-53FFD7C43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812" y="1183541"/>
            <a:ext cx="4455017" cy="4200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7D437-81EE-50A7-C66E-D20A9D2F7EF2}"/>
              </a:ext>
            </a:extLst>
          </p:cNvPr>
          <p:cNvSpPr txBox="1"/>
          <p:nvPr/>
        </p:nvSpPr>
        <p:spPr>
          <a:xfrm>
            <a:off x="3048000" y="56449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error is lowest around K = 8, so it is the best choice for KNN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725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60CDB5-F2C2-AF7F-5544-0D66232B4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662" y="1128044"/>
            <a:ext cx="3810532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8A292-8677-E001-6CA7-EACE90B67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30" y="4288335"/>
            <a:ext cx="5572903" cy="22334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F7193-08AB-D80E-82BF-85E9D8922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108" y="3330446"/>
            <a:ext cx="4887007" cy="319132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1CF2C1-C231-E126-74D8-4F7F5B08BA43}"/>
              </a:ext>
            </a:extLst>
          </p:cNvPr>
          <p:cNvSpPr txBox="1">
            <a:spLocks/>
          </p:cNvSpPr>
          <p:nvPr/>
        </p:nvSpPr>
        <p:spPr>
          <a:xfrm>
            <a:off x="3795348" y="279032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Naïve byes</a:t>
            </a:r>
            <a:endParaRPr lang="en-IN" sz="2800" b="1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79084-589D-FDBE-A96D-7AE352A0B1C4}"/>
              </a:ext>
            </a:extLst>
          </p:cNvPr>
          <p:cNvSpPr txBox="1">
            <a:spLocks/>
          </p:cNvSpPr>
          <p:nvPr/>
        </p:nvSpPr>
        <p:spPr>
          <a:xfrm>
            <a:off x="1596977" y="3224055"/>
            <a:ext cx="473818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Train and test accuracy </a:t>
            </a:r>
            <a:endParaRPr lang="en-IN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56460-ACED-B4CC-730C-B6A608A96641}"/>
              </a:ext>
            </a:extLst>
          </p:cNvPr>
          <p:cNvSpPr txBox="1"/>
          <p:nvPr/>
        </p:nvSpPr>
        <p:spPr>
          <a:xfrm>
            <a:off x="6477620" y="1469658"/>
            <a:ext cx="52084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Gaussian Naive Bayes was trained on the balanced dataset to perform classification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477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CF5EB3-A690-BCCC-D2DC-89281B61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60" y="1072576"/>
            <a:ext cx="4146513" cy="35327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57721FF-C0EE-9466-8D2C-3CB3FD674B5B}"/>
              </a:ext>
            </a:extLst>
          </p:cNvPr>
          <p:cNvSpPr txBox="1">
            <a:spLocks/>
          </p:cNvSpPr>
          <p:nvPr/>
        </p:nvSpPr>
        <p:spPr>
          <a:xfrm>
            <a:off x="935025" y="238052"/>
            <a:ext cx="414651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Confusion matrix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210E14-2812-BB45-6632-A8F132480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677" y="1072576"/>
            <a:ext cx="5420481" cy="34771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6E17FD-D3EF-9B53-0CA1-915882295DCA}"/>
              </a:ext>
            </a:extLst>
          </p:cNvPr>
          <p:cNvSpPr txBox="1"/>
          <p:nvPr/>
        </p:nvSpPr>
        <p:spPr>
          <a:xfrm>
            <a:off x="6291773" y="4862094"/>
            <a:ext cx="5238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GridSearchCV</a:t>
            </a:r>
            <a:r>
              <a:rPr lang="en-US" dirty="0"/>
              <a:t>	 found the best parameter (</a:t>
            </a:r>
            <a:r>
              <a:rPr lang="en-US" dirty="0" err="1"/>
              <a:t>var_smoothing</a:t>
            </a:r>
            <a:r>
              <a:rPr lang="en-US" dirty="0"/>
              <a:t> = 0.01) and improved the model accuracy to about 93%.</a:t>
            </a:r>
            <a:endParaRPr lang="en-I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B760A8C-2FE9-468F-DF3C-0A8FC5879711}"/>
              </a:ext>
            </a:extLst>
          </p:cNvPr>
          <p:cNvSpPr txBox="1">
            <a:spLocks/>
          </p:cNvSpPr>
          <p:nvPr/>
        </p:nvSpPr>
        <p:spPr>
          <a:xfrm>
            <a:off x="6512236" y="238052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Hyperparameter tuning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59166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A5525B-75EA-527A-94AE-ADB0CEA8F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30" y="1216586"/>
            <a:ext cx="3910511" cy="15445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A7900-CF03-D038-4F60-302F4F795E9D}"/>
              </a:ext>
            </a:extLst>
          </p:cNvPr>
          <p:cNvSpPr txBox="1"/>
          <p:nvPr/>
        </p:nvSpPr>
        <p:spPr>
          <a:xfrm>
            <a:off x="5961529" y="13425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 Vector Classifier (SVC) was trained on the balanced dataset to classify car acceptability.</a:t>
            </a: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5B7CFA-8E76-57F7-3EBC-5530787A6EFE}"/>
              </a:ext>
            </a:extLst>
          </p:cNvPr>
          <p:cNvSpPr txBox="1">
            <a:spLocks/>
          </p:cNvSpPr>
          <p:nvPr/>
        </p:nvSpPr>
        <p:spPr>
          <a:xfrm>
            <a:off x="3194712" y="112199"/>
            <a:ext cx="5802575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err="1"/>
              <a:t>Svm</a:t>
            </a:r>
            <a:r>
              <a:rPr lang="en-US" sz="2800" b="1" dirty="0"/>
              <a:t> (support vector machine)</a:t>
            </a:r>
            <a:endParaRPr lang="en-IN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045255-1746-923E-26B4-5AE150DA1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65" y="4224058"/>
            <a:ext cx="3525520" cy="1819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2A9350-14A3-9299-846B-B8F28CBA3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610" y="3544954"/>
            <a:ext cx="4515480" cy="320084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841052E-6C82-E7EB-0C63-9B712BDD18FD}"/>
              </a:ext>
            </a:extLst>
          </p:cNvPr>
          <p:cNvSpPr txBox="1">
            <a:spLocks/>
          </p:cNvSpPr>
          <p:nvPr/>
        </p:nvSpPr>
        <p:spPr>
          <a:xfrm>
            <a:off x="3726907" y="2761129"/>
            <a:ext cx="473818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Train and test accuracy </a:t>
            </a:r>
            <a:endParaRPr lang="en-IN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062A2-74DC-AE58-7033-68D510DDFC74}"/>
              </a:ext>
            </a:extLst>
          </p:cNvPr>
          <p:cNvSpPr txBox="1"/>
          <p:nvPr/>
        </p:nvSpPr>
        <p:spPr>
          <a:xfrm>
            <a:off x="8546095" y="3853481"/>
            <a:ext cx="38010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The model got 88% accuracy on training data and 94.5% accuracy on test data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This means the model learns well and works even better on unseen data</a:t>
            </a:r>
          </a:p>
        </p:txBody>
      </p:sp>
    </p:spTree>
    <p:extLst>
      <p:ext uri="{BB962C8B-B14F-4D97-AF65-F5344CB8AC3E}">
        <p14:creationId xmlns:p14="http://schemas.microsoft.com/office/powerpoint/2010/main" val="3328698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097518-FCED-D510-5CA1-2EDC1C603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70" y="941294"/>
            <a:ext cx="5415160" cy="56891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CDEEA8-26E0-75E4-5087-8AF17E8F42BD}"/>
              </a:ext>
            </a:extLst>
          </p:cNvPr>
          <p:cNvSpPr txBox="1">
            <a:spLocks/>
          </p:cNvSpPr>
          <p:nvPr/>
        </p:nvSpPr>
        <p:spPr>
          <a:xfrm>
            <a:off x="3965678" y="76688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Hyperparameter tuning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E37D8-8499-19D6-CF22-F682DA0A8613}"/>
              </a:ext>
            </a:extLst>
          </p:cNvPr>
          <p:cNvSpPr txBox="1"/>
          <p:nvPr/>
        </p:nvSpPr>
        <p:spPr>
          <a:xfrm>
            <a:off x="6606989" y="2113944"/>
            <a:ext cx="52712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err="1"/>
              <a:t>GridSearchCV</a:t>
            </a:r>
            <a:r>
              <a:rPr lang="en-IN" dirty="0"/>
              <a:t> helped find the best SVM settings.- The best combination was C = 10, Kernel = RBF, Gamma = Auto.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This setup gave 99% accuracy.- The RBF kernel worked best because the data needs a flexible boundary.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 higher C value helped the model make fewer mistakes.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Overall, the tuned SVM model performs very well for this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2070817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CD5BB5-269E-07CC-348F-021D13BB06FA}"/>
              </a:ext>
            </a:extLst>
          </p:cNvPr>
          <p:cNvSpPr txBox="1">
            <a:spLocks/>
          </p:cNvSpPr>
          <p:nvPr/>
        </p:nvSpPr>
        <p:spPr>
          <a:xfrm>
            <a:off x="3795348" y="112546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Decision tree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A6976A-E483-417A-3B4E-43EB07104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897" y="1274826"/>
            <a:ext cx="4848902" cy="1762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2946DF-266D-1C5F-F112-86B6A3E4EB74}"/>
              </a:ext>
            </a:extLst>
          </p:cNvPr>
          <p:cNvSpPr txBox="1"/>
          <p:nvPr/>
        </p:nvSpPr>
        <p:spPr>
          <a:xfrm>
            <a:off x="6687670" y="1274826"/>
            <a:ext cx="4601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Decision Tree classifier was trained using the balanced dataset to learn decision rules for predicting car acceptability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005BC29-27A9-BA71-FAA4-00B46D6C9795}"/>
              </a:ext>
            </a:extLst>
          </p:cNvPr>
          <p:cNvSpPr txBox="1">
            <a:spLocks/>
          </p:cNvSpPr>
          <p:nvPr/>
        </p:nvSpPr>
        <p:spPr>
          <a:xfrm>
            <a:off x="3726908" y="3197161"/>
            <a:ext cx="473818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Train and test accuracy </a:t>
            </a:r>
            <a:endParaRPr lang="en-IN" sz="2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CD32F0-A807-7AC3-670D-AD4E26D6C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556" y="4289345"/>
            <a:ext cx="4608704" cy="14480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CD017C-7D83-6528-495D-EFC1B9DCE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419" y="4289345"/>
            <a:ext cx="4601304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40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E5FCE8-59B9-B09D-5253-64AE982BD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37" y="1775010"/>
            <a:ext cx="5710169" cy="43438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6B838D-134F-218B-B881-1ED0FE3DCA55}"/>
              </a:ext>
            </a:extLst>
          </p:cNvPr>
          <p:cNvSpPr txBox="1">
            <a:spLocks/>
          </p:cNvSpPr>
          <p:nvPr/>
        </p:nvSpPr>
        <p:spPr>
          <a:xfrm>
            <a:off x="760969" y="739164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Decision tree plot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88BAC3-E913-17EA-C6C4-A77731E3D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9164"/>
            <a:ext cx="6032900" cy="4254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03878D-FF70-31E0-CA39-4392A617AE8C}"/>
              </a:ext>
            </a:extLst>
          </p:cNvPr>
          <p:cNvSpPr txBox="1"/>
          <p:nvPr/>
        </p:nvSpPr>
        <p:spPr>
          <a:xfrm>
            <a:off x="6104965" y="51955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We applied </a:t>
            </a:r>
            <a:r>
              <a:rPr lang="en-IN" dirty="0" err="1"/>
              <a:t>GridSearchCV</a:t>
            </a:r>
            <a:r>
              <a:rPr lang="en-IN" dirty="0"/>
              <a:t> to find the best depth and criterion for the Decision Tree.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tuning selected the best model with entropy criterion.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E5073A-B9C6-9463-8705-9125A213AD37}"/>
              </a:ext>
            </a:extLst>
          </p:cNvPr>
          <p:cNvSpPr txBox="1">
            <a:spLocks/>
          </p:cNvSpPr>
          <p:nvPr/>
        </p:nvSpPr>
        <p:spPr>
          <a:xfrm>
            <a:off x="6852313" y="-75712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Hyperparameter tuning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701890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8CBE2A-8C67-06B1-FF09-3904218AEC9A}"/>
              </a:ext>
            </a:extLst>
          </p:cNvPr>
          <p:cNvSpPr txBox="1">
            <a:spLocks/>
          </p:cNvSpPr>
          <p:nvPr/>
        </p:nvSpPr>
        <p:spPr>
          <a:xfrm>
            <a:off x="3714667" y="67723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Random forest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6D852-3EB4-BBB5-0C2B-EC8BBCABF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53" y="1001781"/>
            <a:ext cx="4258269" cy="2305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2E20A5-D357-D382-964C-E8C5303DB29B}"/>
              </a:ext>
            </a:extLst>
          </p:cNvPr>
          <p:cNvSpPr txBox="1"/>
          <p:nvPr/>
        </p:nvSpPr>
        <p:spPr>
          <a:xfrm>
            <a:off x="5773271" y="14115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fitted a Random Forest model on the balanced data to enhance performance and reduce overfitting.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7F38BA-612D-BB2B-176C-8DEF55F5A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81" y="4241211"/>
            <a:ext cx="4963238" cy="14194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3C4543-51E4-9999-4822-4379CA7E1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042" y="4241211"/>
            <a:ext cx="4553585" cy="141942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30EACF2-39ED-74B7-6796-D8B707672825}"/>
              </a:ext>
            </a:extLst>
          </p:cNvPr>
          <p:cNvSpPr txBox="1">
            <a:spLocks/>
          </p:cNvSpPr>
          <p:nvPr/>
        </p:nvSpPr>
        <p:spPr>
          <a:xfrm>
            <a:off x="3726908" y="3197161"/>
            <a:ext cx="4738183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Train and test accuracy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82567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798D9E-8952-533A-F7FD-F32F03C5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01" y="1021976"/>
            <a:ext cx="5979212" cy="5593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4F0B2-1824-CE49-E2E9-196AE9C6A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486" y="1427020"/>
            <a:ext cx="4677428" cy="704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3EAA6C-AF9F-F364-BBC6-42970FAFD659}"/>
              </a:ext>
            </a:extLst>
          </p:cNvPr>
          <p:cNvSpPr txBox="1"/>
          <p:nvPr/>
        </p:nvSpPr>
        <p:spPr>
          <a:xfrm>
            <a:off x="7160621" y="2730675"/>
            <a:ext cx="48811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AdaBoost, Gradient Boosting, and </a:t>
            </a:r>
            <a:r>
              <a:rPr lang="en-IN" dirty="0" err="1"/>
              <a:t>XGBoost</a:t>
            </a:r>
            <a:r>
              <a:rPr lang="en-IN" dirty="0"/>
              <a:t> are boosting algorithms that improve weak models by combining them.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They help increase accuracy by learning from previous mistakes.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 our case, Random Forest already performed extremely well, so using boosting models was optional.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DC45AD-51D4-85B3-F916-E866BA69EC91}"/>
              </a:ext>
            </a:extLst>
          </p:cNvPr>
          <p:cNvSpPr txBox="1">
            <a:spLocks/>
          </p:cNvSpPr>
          <p:nvPr/>
        </p:nvSpPr>
        <p:spPr>
          <a:xfrm>
            <a:off x="4551661" y="-43760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Hyperparameter tuning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700601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8D118C-9A90-988B-36F4-D9AA84200AF3}"/>
              </a:ext>
            </a:extLst>
          </p:cNvPr>
          <p:cNvSpPr txBox="1"/>
          <p:nvPr/>
        </p:nvSpPr>
        <p:spPr>
          <a:xfrm>
            <a:off x="1712259" y="2194156"/>
            <a:ext cx="87674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In this project, multiple machine learning models were applied to classify car acceptability.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After comparing model performances, Random Forest emerged as the most accurate model, achieving nearly perfect results.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feature importance analysis showed that Safety Rating and Number of Persons play a major role in decision-making.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Overall, the project shows that machine learning can successfully analyse car evaluation data and provide reliable predictions.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E13B9A-8DED-2551-EBA0-796887F84418}"/>
              </a:ext>
            </a:extLst>
          </p:cNvPr>
          <p:cNvSpPr txBox="1">
            <a:spLocks/>
          </p:cNvSpPr>
          <p:nvPr/>
        </p:nvSpPr>
        <p:spPr>
          <a:xfrm>
            <a:off x="3795348" y="709275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conclusion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54633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81E3F2-CA34-1798-AA35-0B64EA64C91F}"/>
              </a:ext>
            </a:extLst>
          </p:cNvPr>
          <p:cNvSpPr txBox="1">
            <a:spLocks/>
          </p:cNvSpPr>
          <p:nvPr/>
        </p:nvSpPr>
        <p:spPr>
          <a:xfrm>
            <a:off x="3795348" y="2494942"/>
            <a:ext cx="4601304" cy="934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Thank you 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71589161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183</TotalTime>
  <Words>1060</Words>
  <Application>Microsoft Office PowerPoint</Application>
  <PresentationFormat>Widescreen</PresentationFormat>
  <Paragraphs>111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Times New Roman</vt:lpstr>
      <vt:lpstr>Tw Cen MT</vt:lpstr>
      <vt:lpstr>Wingdings</vt:lpstr>
      <vt:lpstr>Droplet</vt:lpstr>
      <vt:lpstr>Car Evaluation</vt:lpstr>
      <vt:lpstr>Dataset Overview </vt:lpstr>
      <vt:lpstr>Finding Null Values </vt:lpstr>
      <vt:lpstr>Finding Data Types </vt:lpstr>
      <vt:lpstr>Encoding</vt:lpstr>
      <vt:lpstr>Label Encoding manually</vt:lpstr>
      <vt:lpstr>Converting Target Variable to 0 and 1</vt:lpstr>
      <vt:lpstr>Splitting features and target</vt:lpstr>
      <vt:lpstr>Train – test split</vt:lpstr>
      <vt:lpstr>Balancing data using smote</vt:lpstr>
      <vt:lpstr>Feature scaling using standardscaler</vt:lpstr>
      <vt:lpstr>Logistic regression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aru</dc:creator>
  <cp:lastModifiedBy>Arun aru</cp:lastModifiedBy>
  <cp:revision>2</cp:revision>
  <dcterms:created xsi:type="dcterms:W3CDTF">2025-12-03T16:32:33Z</dcterms:created>
  <dcterms:modified xsi:type="dcterms:W3CDTF">2025-12-03T19:36:18Z</dcterms:modified>
</cp:coreProperties>
</file>